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E86AB"/>
                </a:solidFill>
              </a:defRPr>
            </a:pPr>
            <a:r>
              <a:t>SmartDairy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AI Powered Digital Dairy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Manual record-keeping is time-consuming and error-prone</a:t>
            </a:r>
          </a:p>
          <a:p>
            <a:pPr>
              <a:spcAft>
                <a:spcPts val="1200"/>
              </a:spcAft>
              <a:defRPr sz="1800"/>
            </a:pPr>
            <a:r>
              <a:t>• Difficult to track daily milk collections</a:t>
            </a:r>
          </a:p>
          <a:p>
            <a:pPr>
              <a:spcAft>
                <a:spcPts val="1200"/>
              </a:spcAft>
              <a:defRPr sz="1800"/>
            </a:pPr>
            <a:r>
              <a:t>• Invoice generation is tedious and manual</a:t>
            </a:r>
          </a:p>
          <a:p>
            <a:pPr>
              <a:spcAft>
                <a:spcPts val="1200"/>
              </a:spcAft>
              <a:defRPr sz="1800"/>
            </a:pPr>
            <a:r>
              <a:t>• No predictive analytics for planning</a:t>
            </a:r>
          </a:p>
          <a:p>
            <a:pPr>
              <a:spcAft>
                <a:spcPts val="1200"/>
              </a:spcAft>
              <a:defRPr sz="1800"/>
            </a:pPr>
            <a:r>
              <a:t>• Lack of digitalization in dairy management</a:t>
            </a:r>
          </a:p>
          <a:p>
            <a:pPr>
              <a:spcAft>
                <a:spcPts val="1200"/>
              </a:spcAft>
              <a:defRPr sz="1800"/>
            </a:pPr>
            <a:r>
              <a:t>• Customer data management challenges</a:t>
            </a:r>
          </a:p>
          <a:p>
            <a:pPr>
              <a:spcAft>
                <a:spcPts val="1200"/>
              </a:spcAft>
              <a:defRPr sz="1800"/>
            </a:pPr>
            <a:r>
              <a:t>• Billing calculations prone to human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SmartDairy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✓ Complete digital transformation of dairy management</a:t>
            </a:r>
          </a:p>
          <a:p>
            <a:pPr>
              <a:spcAft>
                <a:spcPts val="1200"/>
              </a:spcAft>
              <a:defRPr sz="1800"/>
            </a:pPr>
            <a:r>
              <a:t>✓ Automated daily entry system</a:t>
            </a:r>
          </a:p>
          <a:p>
            <a:pPr>
              <a:spcAft>
                <a:spcPts val="1200"/>
              </a:spcAft>
              <a:defRPr sz="1800"/>
            </a:pPr>
            <a:r>
              <a:t>✓ Professional invoice generation (PDF, Excel, CSV)</a:t>
            </a:r>
          </a:p>
          <a:p>
            <a:pPr>
              <a:spcAft>
                <a:spcPts val="1200"/>
              </a:spcAft>
              <a:defRPr sz="1800"/>
            </a:pPr>
            <a:r>
              <a:t>✓ AI-powered forecasting for milk quantity prediction</a:t>
            </a:r>
          </a:p>
          <a:p>
            <a:pPr>
              <a:spcAft>
                <a:spcPts val="1200"/>
              </a:spcAft>
              <a:defRPr sz="1800"/>
            </a:pPr>
            <a:r>
              <a:t>✓ Real-time dashboard with key metrics</a:t>
            </a:r>
          </a:p>
          <a:p>
            <a:pPr>
              <a:spcAft>
                <a:spcPts val="1200"/>
              </a:spcAft>
              <a:defRPr sz="1800"/>
            </a:pPr>
            <a:r>
              <a:t>✓ Customer management system</a:t>
            </a:r>
          </a:p>
          <a:p>
            <a:pPr>
              <a:spcAft>
                <a:spcPts val="1200"/>
              </a:spcAft>
              <a:defRPr sz="1800"/>
            </a:pPr>
            <a:r>
              <a:t>✓ Date-based filtering and reporting</a:t>
            </a:r>
          </a:p>
          <a:p>
            <a:pPr>
              <a:spcAft>
                <a:spcPts val="1200"/>
              </a:spcAft>
              <a:defRPr sz="1800"/>
            </a:pPr>
            <a:r>
              <a:t>✓ Clean, modern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1. Customer Management</a:t>
            </a:r>
          </a:p>
          <a:p>
            <a:pPr>
              <a:spcAft>
                <a:spcPts val="1000"/>
              </a:spcAft>
              <a:defRPr sz="1600"/>
            </a:pPr>
            <a:r>
              <a:t>   • Add, update, delete customers</a:t>
            </a:r>
          </a:p>
          <a:p>
            <a:pPr>
              <a:spcAft>
                <a:spcPts val="1000"/>
              </a:spcAft>
              <a:defRPr sz="1600"/>
            </a:pPr>
            <a:r>
              <a:t>   • Custom pricing per customer</a:t>
            </a:r>
          </a:p>
          <a:p>
            <a:pPr>
              <a:spcAft>
                <a:spcPts val="1000"/>
              </a:spcAft>
              <a:defRPr sz="1600"/>
            </a:pPr>
            <a:r>
              <a:t>   </a:t>
            </a:r>
          </a:p>
          <a:p>
            <a:pPr>
              <a:spcAft>
                <a:spcPts val="1000"/>
              </a:spcAft>
              <a:defRPr sz="1600"/>
            </a:pPr>
            <a:r>
              <a:t>2. Daily Milk Entry</a:t>
            </a:r>
          </a:p>
          <a:p>
            <a:pPr>
              <a:spcAft>
                <a:spcPts val="1000"/>
              </a:spcAft>
              <a:defRPr sz="1600"/>
            </a:pPr>
            <a:r>
              <a:t>   • Quick entry form</a:t>
            </a:r>
          </a:p>
          <a:p>
            <a:pPr>
              <a:spcAft>
                <a:spcPts val="1000"/>
              </a:spcAft>
              <a:defRPr sz="1600"/>
            </a:pPr>
            <a:r>
              <a:t>   • Date-based filtering</a:t>
            </a:r>
          </a:p>
          <a:p>
            <a:pPr>
              <a:spcAft>
                <a:spcPts val="1000"/>
              </a:spcAft>
              <a:defRPr sz="1600"/>
            </a:pPr>
            <a:r>
              <a:t>   • CSV export capability</a:t>
            </a:r>
          </a:p>
          <a:p>
            <a:pPr>
              <a:spcAft>
                <a:spcPts val="1000"/>
              </a:spcAft>
              <a:defRPr sz="1600"/>
            </a:pPr>
            <a:r>
              <a:t>   </a:t>
            </a:r>
          </a:p>
          <a:p>
            <a:pPr>
              <a:spcAft>
                <a:spcPts val="1000"/>
              </a:spcAft>
              <a:defRPr sz="1600"/>
            </a:pPr>
            <a:r>
              <a:t>3. Monthly Billing</a:t>
            </a:r>
          </a:p>
          <a:p>
            <a:pPr>
              <a:spcAft>
                <a:spcPts val="1000"/>
              </a:spcAft>
              <a:defRPr sz="1600"/>
            </a:pPr>
            <a:r>
              <a:t>   • Automatic calculation</a:t>
            </a:r>
          </a:p>
          <a:p>
            <a:pPr>
              <a:spcAft>
                <a:spcPts val="1000"/>
              </a:spcAft>
              <a:defRPr sz="1600"/>
            </a:pPr>
            <a:r>
              <a:t>   • PDF/Excel/CSV invoices</a:t>
            </a:r>
          </a:p>
          <a:p>
            <a:pPr>
              <a:spcAft>
                <a:spcPts val="1000"/>
              </a:spcAft>
              <a:defRPr sz="1600"/>
            </a:pPr>
            <a:r>
              <a:t>   • Professional formatting</a:t>
            </a:r>
          </a:p>
          <a:p>
            <a:pPr>
              <a:spcAft>
                <a:spcPts val="1000"/>
              </a:spcAft>
              <a:defRPr sz="1600"/>
            </a:pPr>
            <a:r>
              <a:t>   </a:t>
            </a:r>
          </a:p>
          <a:p>
            <a:pPr>
              <a:spcAft>
                <a:spcPts val="1000"/>
              </a:spcAft>
              <a:defRPr sz="1600"/>
            </a:pPr>
            <a:r>
              <a:t>4. AI Forecasting</a:t>
            </a:r>
          </a:p>
          <a:p>
            <a:pPr>
              <a:spcAft>
                <a:spcPts val="1000"/>
              </a:spcAft>
              <a:defRPr sz="1600"/>
            </a:pPr>
            <a:r>
              <a:t>   • Moving average prediction</a:t>
            </a:r>
          </a:p>
          <a:p>
            <a:pPr>
              <a:spcAft>
                <a:spcPts val="1000"/>
              </a:spcAft>
              <a:defRPr sz="1600"/>
            </a:pPr>
            <a:r>
              <a:t>   • Interactive visualizations</a:t>
            </a:r>
          </a:p>
          <a:p>
            <a:pPr>
              <a:spcAft>
                <a:spcPts val="1000"/>
              </a:spcAft>
              <a:defRPr sz="1600"/>
            </a:pPr>
            <a:r>
              <a:t>   • Historical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Frontend &amp; Framework:</a:t>
            </a:r>
          </a:p>
          <a:p>
            <a:pPr>
              <a:spcAft>
                <a:spcPts val="1000"/>
              </a:spcAft>
              <a:defRPr sz="1600"/>
            </a:pPr>
            <a:r>
              <a:t>• Streamlit - Web application framework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Backend &amp; Database:</a:t>
            </a:r>
          </a:p>
          <a:p>
            <a:pPr>
              <a:spcAft>
                <a:spcPts val="1000"/>
              </a:spcAft>
              <a:defRPr sz="1600"/>
            </a:pPr>
            <a:r>
              <a:t>• Python 3.8+ - Core language</a:t>
            </a:r>
          </a:p>
          <a:p>
            <a:pPr>
              <a:spcAft>
                <a:spcPts val="1000"/>
              </a:spcAft>
              <a:defRPr sz="1600"/>
            </a:pPr>
            <a:r>
              <a:t>• SQLite - Lightweight database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Data Processing:</a:t>
            </a:r>
          </a:p>
          <a:p>
            <a:pPr>
              <a:spcAft>
                <a:spcPts val="1000"/>
              </a:spcAft>
              <a:defRPr sz="1600"/>
            </a:pPr>
            <a:r>
              <a:t>• Pandas - Data manipulation</a:t>
            </a:r>
          </a:p>
          <a:p>
            <a:pPr>
              <a:spcAft>
                <a:spcPts val="1000"/>
              </a:spcAft>
              <a:defRPr sz="1600"/>
            </a:pPr>
            <a:r>
              <a:t>• NumPy - Numerical computing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Visualization:</a:t>
            </a:r>
          </a:p>
          <a:p>
            <a:pPr>
              <a:spcAft>
                <a:spcPts val="1000"/>
              </a:spcAft>
              <a:defRPr sz="1600"/>
            </a:pPr>
            <a:r>
              <a:t>• Matplotlib - Charts and graphs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Document Generation:</a:t>
            </a:r>
          </a:p>
          <a:p>
            <a:pPr>
              <a:spcAft>
                <a:spcPts val="1000"/>
              </a:spcAft>
              <a:defRPr sz="1600"/>
            </a:pPr>
            <a:r>
              <a:t>• ReportLab - PDF invoices</a:t>
            </a:r>
          </a:p>
          <a:p>
            <a:pPr>
              <a:spcAft>
                <a:spcPts val="1000"/>
              </a:spcAft>
              <a:defRPr sz="1600"/>
            </a:pPr>
            <a:r>
              <a:t>• openpyxl - Excel files</a:t>
            </a:r>
          </a:p>
          <a:p>
            <a:pPr>
              <a:spcAft>
                <a:spcPts val="1000"/>
              </a:spcAft>
              <a:defRPr sz="1600"/>
            </a:pPr>
            <a:r>
              <a:t>• python-pptx - Presentations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User adds customers with pricing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2. Daily milk entries are recorded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3. Data stored in SQLite database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4. Monthly billing calculated automatically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5. Invoices generated in multiple formats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6. AI forecasting predicts future quantities</a:t>
            </a:r>
          </a:p>
          <a:p>
            <a:pPr>
              <a:spcAft>
                <a:spcPts val="1200"/>
              </a:spcAft>
              <a:defRPr sz="1800"/>
            </a:pPr>
            <a:r>
              <a:t>   ↓</a:t>
            </a:r>
          </a:p>
          <a:p>
            <a:pPr>
              <a:spcAft>
                <a:spcPts val="1200"/>
              </a:spcAft>
              <a:defRPr sz="1800"/>
            </a:pPr>
            <a:r>
              <a:t>7. Dashboard shows real-time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Dashboard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69696"/>
                </a:solidFill>
              </a:defRPr>
            </a:pPr>
            <a:r>
              <a:t>[Dashboard Screenshot]</a:t>
            </a:r>
          </a:p>
          <a:p/>
          <a:p>
            <a:r>
              <a:t>Real-time statistics</a:t>
            </a:r>
          </a:p>
          <a:p>
            <a:r>
              <a:t>Recent entries overview</a:t>
            </a:r>
          </a:p>
          <a:p>
            <a:r>
              <a:t>Key metrics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Customer Management:</a:t>
            </a:r>
          </a:p>
          <a:p>
            <a:pPr>
              <a:spcAft>
                <a:spcPts val="1000"/>
              </a:spcAft>
              <a:defRPr sz="1600"/>
            </a:pPr>
            <a:r>
              <a:t>[Customer Management Screenshot]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Daily Milk Entry:</a:t>
            </a:r>
          </a:p>
          <a:p>
            <a:pPr>
              <a:spcAft>
                <a:spcPts val="1000"/>
              </a:spcAft>
              <a:defRPr sz="1600"/>
            </a:pPr>
            <a:r>
              <a:t>[Daily Entry Screenshot]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Monthly Billing:</a:t>
            </a:r>
          </a:p>
          <a:p>
            <a:pPr>
              <a:spcAft>
                <a:spcPts val="1000"/>
              </a:spcAft>
              <a:defRPr sz="1600"/>
            </a:pPr>
            <a:r>
              <a:t>[Billing Interface Screenshot]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AI Forecasting:</a:t>
            </a:r>
          </a:p>
          <a:p>
            <a:pPr>
              <a:spcAft>
                <a:spcPts val="1000"/>
              </a:spcAft>
              <a:defRPr sz="1600"/>
            </a:pPr>
            <a:r>
              <a:t>[Forecasting Visualization Screenshot]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Forecasting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Algorithm: Moving Average</a:t>
            </a:r>
          </a:p>
          <a:p>
            <a:pPr>
              <a:spcAft>
                <a:spcPts val="1000"/>
              </a:spcAft>
              <a:defRPr sz="1600"/>
            </a:pPr>
            <a:r>
              <a:t>• Analyzes last N days of data</a:t>
            </a:r>
          </a:p>
          <a:p>
            <a:pPr>
              <a:spcAft>
                <a:spcPts val="1000"/>
              </a:spcAft>
              <a:defRPr sz="1600"/>
            </a:pPr>
            <a:r>
              <a:t>• Configurable window (3-30 days)</a:t>
            </a:r>
          </a:p>
          <a:p>
            <a:pPr>
              <a:spcAft>
                <a:spcPts val="1000"/>
              </a:spcAft>
              <a:defRPr sz="1600"/>
            </a:pPr>
            <a:r>
              <a:t>• Predicts next day's milk quantity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Features:</a:t>
            </a:r>
          </a:p>
          <a:p>
            <a:pPr>
              <a:spcAft>
                <a:spcPts val="1000"/>
              </a:spcAft>
              <a:defRPr sz="1600"/>
            </a:pPr>
            <a:r>
              <a:t>✓ Historical data visualization</a:t>
            </a:r>
          </a:p>
          <a:p>
            <a:pPr>
              <a:spcAft>
                <a:spcPts val="1000"/>
              </a:spcAft>
              <a:defRPr sz="1600"/>
            </a:pPr>
            <a:r>
              <a:t>✓ Interactive charts with matplotlib</a:t>
            </a:r>
          </a:p>
          <a:p>
            <a:pPr>
              <a:spcAft>
                <a:spcPts val="1000"/>
              </a:spcAft>
              <a:defRPr sz="1600"/>
            </a:pPr>
            <a:r>
              <a:t>✓ Statistical summary (avg, min, max)</a:t>
            </a:r>
          </a:p>
          <a:p>
            <a:pPr>
              <a:spcAft>
                <a:spcPts val="1000"/>
              </a:spcAft>
              <a:defRPr sz="1600"/>
            </a:pPr>
            <a:r>
              <a:t>✓ Trend analysis</a:t>
            </a:r>
          </a:p>
          <a:p>
            <a:pPr>
              <a:spcAft>
                <a:spcPts val="1000"/>
              </a:spcAft>
              <a:defRPr sz="1600"/>
            </a:pPr>
            <a:r>
              <a:t>✓ Data-driven predictions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Benefits:</a:t>
            </a:r>
          </a:p>
          <a:p>
            <a:pPr>
              <a:spcAft>
                <a:spcPts val="1000"/>
              </a:spcAft>
              <a:defRPr sz="1600"/>
            </a:pPr>
            <a:r>
              <a:t>• Better planning and inventory management</a:t>
            </a:r>
          </a:p>
          <a:p>
            <a:pPr>
              <a:spcAft>
                <a:spcPts val="1000"/>
              </a:spcAft>
              <a:defRPr sz="1600"/>
            </a:pPr>
            <a:r>
              <a:t>• Anticipate demand fluctuations</a:t>
            </a:r>
          </a:p>
          <a:p>
            <a:pPr>
              <a:spcAft>
                <a:spcPts val="1000"/>
              </a:spcAft>
              <a:defRPr sz="1600"/>
            </a:pPr>
            <a:r>
              <a:t>• Optimize collection schedules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Advanced AI:</a:t>
            </a:r>
          </a:p>
          <a:p>
            <a:pPr>
              <a:spcAft>
                <a:spcPts val="1000"/>
              </a:spcAft>
              <a:defRPr sz="1600"/>
            </a:pPr>
            <a:r>
              <a:t>• LSTM neural networks</a:t>
            </a:r>
          </a:p>
          <a:p>
            <a:pPr>
              <a:spcAft>
                <a:spcPts val="1000"/>
              </a:spcAft>
              <a:defRPr sz="1600"/>
            </a:pPr>
            <a:r>
              <a:t>• Seasonal trend analysis</a:t>
            </a:r>
          </a:p>
          <a:p>
            <a:pPr>
              <a:spcAft>
                <a:spcPts val="1000"/>
              </a:spcAft>
              <a:defRPr sz="1600"/>
            </a:pPr>
            <a:r>
              <a:t>• Multi-variable forecasting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Enhanced Features:</a:t>
            </a:r>
          </a:p>
          <a:p>
            <a:pPr>
              <a:spcAft>
                <a:spcPts val="1000"/>
              </a:spcAft>
              <a:defRPr sz="1600"/>
            </a:pPr>
            <a:r>
              <a:t>• Multi-user support with authentication</a:t>
            </a:r>
          </a:p>
          <a:p>
            <a:pPr>
              <a:spcAft>
                <a:spcPts val="1000"/>
              </a:spcAft>
              <a:defRPr sz="1600"/>
            </a:pPr>
            <a:r>
              <a:t>• Mobile app (React Native)</a:t>
            </a:r>
          </a:p>
          <a:p>
            <a:pPr>
              <a:spcAft>
                <a:spcPts val="1000"/>
              </a:spcAft>
              <a:defRPr sz="1600"/>
            </a:pPr>
            <a:r>
              <a:t>• SMS/Email invoice delivery</a:t>
            </a:r>
          </a:p>
          <a:p>
            <a:pPr>
              <a:spcAft>
                <a:spcPts val="1000"/>
              </a:spcAft>
              <a:defRPr sz="1600"/>
            </a:pPr>
            <a:r>
              <a:t>• Payment tracking system</a:t>
            </a:r>
          </a:p>
          <a:p>
            <a:pPr>
              <a:spcAft>
                <a:spcPts val="1000"/>
              </a:spcAft>
              <a:defRPr sz="1600"/>
            </a:pPr>
            <a:r>
              <a:t>• Integration with accounting software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Analytics:</a:t>
            </a:r>
          </a:p>
          <a:p>
            <a:pPr>
              <a:spcAft>
                <a:spcPts val="1000"/>
              </a:spcAft>
              <a:defRPr sz="1600"/>
            </a:pPr>
            <a:r>
              <a:t>• Annual reports</a:t>
            </a:r>
          </a:p>
          <a:p>
            <a:pPr>
              <a:spcAft>
                <a:spcPts val="1000"/>
              </a:spcAft>
              <a:defRPr sz="1600"/>
            </a:pPr>
            <a:r>
              <a:t>• Customer behavior analysis</a:t>
            </a:r>
          </a:p>
          <a:p>
            <a:pPr>
              <a:spcAft>
                <a:spcPts val="1000"/>
              </a:spcAft>
              <a:defRPr sz="1600"/>
            </a:pPr>
            <a:r>
              <a:t>• Price optimization</a:t>
            </a:r>
          </a:p>
          <a:p>
            <a:pPr>
              <a:spcAft>
                <a:spcPts val="1000"/>
              </a:spcAft>
              <a:defRPr sz="1600"/>
            </a:pPr>
            <a:r>
              <a:t>• Inventory management</a:t>
            </a:r>
          </a:p>
          <a:p>
            <a:pPr>
              <a:spcAft>
                <a:spcPts val="1000"/>
              </a:spcAft>
              <a:defRPr sz="1600"/>
            </a:pPr>
            <a:r>
              <a:t>•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